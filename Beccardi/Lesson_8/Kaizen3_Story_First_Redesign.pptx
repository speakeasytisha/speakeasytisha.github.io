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2346"/>
          </a:solidFill>
          <a:ln w="12700">
            <a:solidFill>
              <a:srgbClr val="0A2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09728"/>
            <a:ext cx="8138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Kaizen Team #3 | Shop processing lead time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146304"/>
            <a:ext cx="20574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C8D6E6"/>
                </a:solidFill>
                <a:latin typeface="Arial"/>
              </a:rPr>
              <a:t>C2 -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521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0A2346"/>
                </a:solidFill>
                <a:latin typeface="Arial"/>
              </a:rPr>
              <a:t>From 12 days to 2 days: making non-conformity treatment faster and easier to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298448"/>
            <a:ext cx="10881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5C646E"/>
                </a:solidFill>
                <a:latin typeface="Arial"/>
              </a:rPr>
              <a:t>A story-first kickoff slide for a mixed U.S. audience: problem -&gt; target -&gt; scope -&gt; plan -&gt; expected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37360"/>
            <a:ext cx="11384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215B96"/>
                </a:solidFill>
                <a:latin typeface="Arial"/>
              </a:rPr>
              <a:t>THE CHANGE WE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48840"/>
            <a:ext cx="283464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C63B3B"/>
                </a:solidFill>
                <a:latin typeface="Arial"/>
              </a:rPr>
              <a:t>12 days</a:t>
            </a:r>
            <a:r>
              <a:rPr sz="1100" b="0">
                <a:solidFill>
                  <a:srgbClr val="5C646E"/>
                </a:solidFill>
                <a:latin typeface="Arial"/>
              </a:rPr>
              <a:t>
current P90 lead time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49039" y="2249424"/>
            <a:ext cx="1463040" cy="420624"/>
          </a:xfrm>
          <a:prstGeom prst="rightArrow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148840"/>
            <a:ext cx="283464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228C5D"/>
                </a:solidFill>
                <a:latin typeface="Arial"/>
              </a:rPr>
              <a:t>2 days</a:t>
            </a:r>
            <a:r>
              <a:rPr sz="1100" b="0">
                <a:solidFill>
                  <a:srgbClr val="5C646E"/>
                </a:solidFill>
                <a:latin typeface="Arial"/>
              </a:rPr>
              <a:t>
target lead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938528"/>
            <a:ext cx="2788920" cy="896112"/>
          </a:xfrm>
          <a:prstGeom prst="roundRect">
            <a:avLst/>
          </a:prstGeom>
          <a:solidFill>
            <a:srgbClr val="FFF3C8"/>
          </a:solidFill>
          <a:ln w="12700">
            <a:solidFill>
              <a:srgbClr val="E6C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2057400"/>
            <a:ext cx="23774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A2346"/>
                </a:solidFill>
                <a:latin typeface="Arial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2450592"/>
            <a:ext cx="2377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5C646E"/>
                </a:solidFill>
                <a:latin typeface="Arial"/>
              </a:rPr>
              <a:t>31-day lead time for reworked parts puts delivery at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20440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94176"/>
            <a:ext cx="3200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215B96"/>
                </a:solidFill>
                <a:latin typeface="Arial"/>
              </a:rPr>
              <a:t>1  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77639"/>
            <a:ext cx="3154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A2346"/>
                </a:solidFill>
                <a:latin typeface="Arial"/>
              </a:rPr>
              <a:t>NNC processing takes too long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70832"/>
            <a:ext cx="32004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632"/>
                </a:solidFill>
                <a:latin typeface="Arial"/>
              </a:defRPr>
            </a:pPr>
            <a:r>
              <a:t>Current P90 lead time: 288h / 12 days</a:t>
            </a:r>
          </a:p>
          <a:p>
            <a:pPr>
              <a:spcAft>
                <a:spcPts val="300"/>
              </a:spcAft>
              <a:defRPr sz="1200">
                <a:solidFill>
                  <a:srgbClr val="1E2632"/>
                </a:solidFill>
                <a:latin typeface="Arial"/>
              </a:defRPr>
            </a:pPr>
            <a:r>
              <a:t>Too long to secure on-time delivery</a:t>
            </a:r>
          </a:p>
          <a:p>
            <a:pPr>
              <a:spcAft>
                <a:spcPts val="300"/>
              </a:spcAft>
              <a:defRPr sz="1200">
                <a:solidFill>
                  <a:srgbClr val="1E2632"/>
                </a:solidFill>
                <a:latin typeface="Arial"/>
              </a:defRPr>
            </a:pPr>
            <a:r>
              <a:t>Reworked parts can reach 31 days 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57800"/>
            <a:ext cx="3154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C646E"/>
                </a:solidFill>
                <a:latin typeface="Arial"/>
              </a:rPr>
              <a:t>Plain-English message: “We are losing time before parts can move forward.”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520440"/>
            <a:ext cx="3611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694176"/>
            <a:ext cx="3154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215B96"/>
                </a:solidFill>
                <a:latin typeface="Arial"/>
              </a:rPr>
              <a:t>2  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39"/>
            <a:ext cx="3063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A2346"/>
                </a:solidFill>
                <a:latin typeface="Arial"/>
              </a:rPr>
              <a:t>Impact beyond the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7083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632"/>
                </a:solidFill>
                <a:latin typeface="Arial"/>
              </a:defRPr>
            </a:pPr>
            <a:r>
              <a:t>Serviceability of parts</a:t>
            </a:r>
          </a:p>
          <a:p>
            <a:pPr>
              <a:spcAft>
                <a:spcPts val="300"/>
              </a:spcAft>
              <a:defRPr sz="1200">
                <a:solidFill>
                  <a:srgbClr val="1E2632"/>
                </a:solidFill>
                <a:latin typeface="Arial"/>
              </a:defRPr>
            </a:pPr>
            <a:r>
              <a:t>Respect of commitments</a:t>
            </a:r>
          </a:p>
          <a:p>
            <a:pPr>
              <a:spcAft>
                <a:spcPts val="300"/>
              </a:spcAft>
              <a:defRPr sz="1200">
                <a:solidFill>
                  <a:srgbClr val="1E2632"/>
                </a:solidFill>
                <a:latin typeface="Arial"/>
              </a:defRPr>
            </a:pPr>
            <a:r>
              <a:t>Customer satisfaction under contract</a:t>
            </a:r>
          </a:p>
          <a:p>
            <a:pPr>
              <a:spcAft>
                <a:spcPts val="300"/>
              </a:spcAft>
              <a:defRPr sz="1200">
                <a:solidFill>
                  <a:srgbClr val="1E2632"/>
                </a:solidFill>
                <a:latin typeface="Arial"/>
              </a:defRPr>
            </a:pPr>
            <a:r>
              <a:t>Lower parts holding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257800"/>
            <a:ext cx="3063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5C646E"/>
                </a:solidFill>
                <a:latin typeface="Arial"/>
              </a:rPr>
              <a:t>Plain-English message: “Shorter treatment time protects the customer promise.”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520440"/>
            <a:ext cx="374903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694176"/>
            <a:ext cx="3246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215B96"/>
                </a:solidFill>
                <a:latin typeface="Arial"/>
              </a:rPr>
              <a:t>3  WHERE WE WILL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977639"/>
            <a:ext cx="3246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A2346"/>
                </a:solidFill>
                <a:latin typeface="Arial"/>
              </a:rPr>
              <a:t>Focused scope + clear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7083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1E2632"/>
                </a:solidFill>
                <a:latin typeface="Arial"/>
              </a:defRPr>
            </a:pPr>
            <a:r>
              <a:t>In: turbine nozzles and blades (CFM56 &amp; LEAP)</a:t>
            </a:r>
          </a:p>
          <a:p>
            <a:pPr>
              <a:spcAft>
                <a:spcPts val="300"/>
              </a:spcAft>
              <a:defRPr sz="1019">
                <a:solidFill>
                  <a:srgbClr val="1E2632"/>
                </a:solidFill>
                <a:latin typeface="Arial"/>
              </a:defRPr>
            </a:pPr>
            <a:r>
              <a:t>Out: GE engineering analysis / CSC cases (~2%)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956048"/>
            <a:ext cx="3246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15B96"/>
                </a:solidFill>
                <a:latin typeface="Arial"/>
              </a:rPr>
              <a:t>DMAIC roadmap</a:t>
            </a:r>
          </a:p>
        </p:txBody>
      </p:sp>
      <p:sp>
        <p:nvSpPr>
          <p:cNvPr id="30" name="Oval 29"/>
          <p:cNvSpPr/>
          <p:nvPr/>
        </p:nvSpPr>
        <p:spPr>
          <a:xfrm>
            <a:off x="8275320" y="5230368"/>
            <a:ext cx="201168" cy="201168"/>
          </a:xfrm>
          <a:prstGeom prst="ellipse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5468112"/>
            <a:ext cx="57607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0">
                <a:solidFill>
                  <a:srgbClr val="1E2632"/>
                </a:solidFill>
                <a:latin typeface="Arial"/>
              </a:rPr>
              <a:t>Kick-off</a:t>
            </a:r>
            <a:br/>
            <a:r>
              <a:rPr sz="650" b="0">
                <a:solidFill>
                  <a:srgbClr val="1E2632"/>
                </a:solidFill>
                <a:latin typeface="Arial"/>
              </a:rPr>
              <a:t>26 Jun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76488" y="5303520"/>
            <a:ext cx="457199" cy="22860"/>
          </a:xfrm>
          <a:prstGeom prst="rect">
            <a:avLst/>
          </a:prstGeom>
          <a:solidFill>
            <a:srgbClr val="C8D7EB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33688" y="5230368"/>
            <a:ext cx="201168" cy="201168"/>
          </a:xfrm>
          <a:prstGeom prst="ellipse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9096" y="5468112"/>
            <a:ext cx="57607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0">
                <a:solidFill>
                  <a:srgbClr val="1E2632"/>
                </a:solidFill>
                <a:latin typeface="Arial"/>
              </a:rPr>
              <a:t>Define</a:t>
            </a:r>
            <a:br/>
            <a:r>
              <a:rPr sz="650" b="0">
                <a:solidFill>
                  <a:srgbClr val="1E2632"/>
                </a:solidFill>
                <a:latin typeface="Arial"/>
              </a:rPr>
              <a:t>30 Jul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34856" y="5303520"/>
            <a:ext cx="585216" cy="22860"/>
          </a:xfrm>
          <a:prstGeom prst="rect">
            <a:avLst/>
          </a:prstGeom>
          <a:solidFill>
            <a:srgbClr val="C8D7EB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20072" y="5230368"/>
            <a:ext cx="201168" cy="201168"/>
          </a:xfrm>
          <a:prstGeom prst="ellipse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5468112"/>
            <a:ext cx="57607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0">
                <a:solidFill>
                  <a:srgbClr val="1E2632"/>
                </a:solidFill>
                <a:latin typeface="Arial"/>
              </a:rPr>
              <a:t>Measure/Analyze</a:t>
            </a:r>
            <a:br/>
            <a:r>
              <a:rPr sz="650" b="0">
                <a:solidFill>
                  <a:srgbClr val="1E2632"/>
                </a:solidFill>
                <a:latin typeface="Arial"/>
              </a:rPr>
              <a:t>30 Sep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5303520"/>
            <a:ext cx="704087" cy="22860"/>
          </a:xfrm>
          <a:prstGeom prst="rect">
            <a:avLst/>
          </a:prstGeom>
          <a:solidFill>
            <a:srgbClr val="C8D7EB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25328" y="5230368"/>
            <a:ext cx="201168" cy="201168"/>
          </a:xfrm>
          <a:prstGeom prst="ellipse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60736" y="5468112"/>
            <a:ext cx="57607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0">
                <a:solidFill>
                  <a:srgbClr val="1E2632"/>
                </a:solidFill>
                <a:latin typeface="Arial"/>
              </a:rPr>
              <a:t>Improve</a:t>
            </a:r>
            <a:br/>
            <a:r>
              <a:rPr sz="650" b="0">
                <a:solidFill>
                  <a:srgbClr val="1E2632"/>
                </a:solidFill>
                <a:latin typeface="Arial"/>
              </a:rPr>
              <a:t>16 Oct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26496" y="5303520"/>
            <a:ext cx="484632" cy="22860"/>
          </a:xfrm>
          <a:prstGeom prst="rect">
            <a:avLst/>
          </a:prstGeom>
          <a:solidFill>
            <a:srgbClr val="C8D7EB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311128" y="5230368"/>
            <a:ext cx="201168" cy="201168"/>
          </a:xfrm>
          <a:prstGeom prst="ellipse">
            <a:avLst/>
          </a:prstGeom>
          <a:solidFill>
            <a:srgbClr val="228C5D"/>
          </a:solidFill>
          <a:ln>
            <a:solidFill>
              <a:srgbClr val="22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46536" y="5468112"/>
            <a:ext cx="57607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50" b="0">
                <a:solidFill>
                  <a:srgbClr val="1E2632"/>
                </a:solidFill>
                <a:latin typeface="Arial"/>
              </a:rPr>
              <a:t>Control</a:t>
            </a:r>
            <a:br/>
            <a:r>
              <a:rPr sz="650" b="0">
                <a:solidFill>
                  <a:srgbClr val="1E2632"/>
                </a:solidFill>
                <a:latin typeface="Arial"/>
              </a:rPr>
              <a:t>+30/60/90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833872"/>
            <a:ext cx="11384280" cy="530352"/>
          </a:xfrm>
          <a:prstGeom prst="roundRect">
            <a:avLst/>
          </a:prstGeom>
          <a:solidFill>
            <a:srgbClr val="0A2346"/>
          </a:solidFill>
          <a:ln w="12700">
            <a:solidFill>
              <a:srgbClr val="0A2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961888"/>
            <a:ext cx="10927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Speaker route: introduce the team -&gt; name the problem -&gt; show the 12-day to 2-day ambition -&gt; explain the focused scope -&gt; invite questions on assumptions and risks.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510528"/>
            <a:ext cx="3931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50" b="0">
                <a:solidFill>
                  <a:srgbClr val="5C646E"/>
                </a:solidFill>
                <a:latin typeface="Arial"/>
              </a:rPr>
              <a:t>Draft redesign based on supplied kickoff slide - for trainer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510528"/>
            <a:ext cx="21945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650" b="0">
                <a:solidFill>
                  <a:srgbClr val="5C646E"/>
                </a:solidFill>
                <a:latin typeface="Arial"/>
              </a:rPr>
              <a:t>AIRCRAFT ENGINES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