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A2346"/>
          </a:solidFill>
          <a:ln w="12700">
            <a:solidFill>
              <a:srgbClr val="0A2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554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Kaizen Team #3 | Shop processing lead time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CDD7E2"/>
                </a:solidFill>
                <a:latin typeface="Arial"/>
              </a:rPr>
              <a:t>C2 -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14400"/>
            <a:ext cx="1143000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A2346"/>
                </a:solidFill>
                <a:latin typeface="Arial"/>
              </a:rPr>
              <a:t>From 12 days to 2 days: make NNC treatment faster and easier to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1307592"/>
            <a:ext cx="11338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C646E"/>
                </a:solidFill>
                <a:latin typeface="Arial"/>
              </a:rPr>
              <a:t>Story-first kickoff slide for a mixed U.S. audience: problem → target → impact → scope → plan →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11384280" cy="13533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15B96"/>
                </a:solidFill>
                <a:latin typeface="Arial"/>
              </a:rPr>
              <a:t>THE CHANGE WE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48256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C63B3B"/>
                </a:solidFill>
                <a:latin typeface="Arial"/>
              </a:rPr>
              <a:t>12 days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63B3B"/>
                </a:solidFill>
                <a:latin typeface="Arial"/>
              </a:rPr>
              <a:t>current P90 lead time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49039" y="2194560"/>
            <a:ext cx="1417320" cy="365760"/>
          </a:xfrm>
          <a:prstGeom prst="rightArrow">
            <a:avLst/>
          </a:prstGeom>
          <a:solidFill>
            <a:srgbClr val="F2B822"/>
          </a:solidFill>
          <a:ln>
            <a:solidFill>
              <a:srgbClr val="F2B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2048256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228C5D"/>
                </a:solidFill>
                <a:latin typeface="Arial"/>
              </a:rPr>
              <a:t>2 days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8C5D"/>
                </a:solidFill>
                <a:latin typeface="Arial"/>
              </a:rPr>
              <a:t>target lead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874519"/>
            <a:ext cx="2788920" cy="804672"/>
          </a:xfrm>
          <a:prstGeom prst="roundRect">
            <a:avLst/>
          </a:prstGeom>
          <a:solidFill>
            <a:srgbClr val="FFF3C8"/>
          </a:solidFill>
          <a:ln w="12700">
            <a:solidFill>
              <a:srgbClr val="E6C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202996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A2346"/>
                </a:solidFill>
                <a:latin typeface="Arial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832" y="230428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C646E"/>
                </a:solidFill>
                <a:latin typeface="Arial"/>
              </a:rPr>
              <a:t>31-day lead time for reworked parts</a:t>
            </a:r>
            <a:br/>
            <a:r>
              <a:rPr sz="850" b="0">
                <a:solidFill>
                  <a:srgbClr val="5C646E"/>
                </a:solidFill>
                <a:latin typeface="Arial"/>
              </a:rPr>
              <a:t>puts delivery commitments at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46120"/>
            <a:ext cx="3703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7472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1">
                <a:solidFill>
                  <a:srgbClr val="215B96"/>
                </a:solidFill>
                <a:latin typeface="Arial"/>
              </a:rPr>
              <a:t>1  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7490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A2346"/>
                </a:solidFill>
                <a:latin typeface="Arial"/>
              </a:rPr>
              <a:t>NNC treatment takes too long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14800"/>
            <a:ext cx="32461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1E2632"/>
                </a:solidFill>
                <a:latin typeface="Arial"/>
              </a:defRPr>
            </a:pPr>
            <a:r>
              <a:t>P90 lead time today: 288h / 12 days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1E2632"/>
                </a:solidFill>
                <a:latin typeface="Arial"/>
              </a:defRPr>
            </a:pPr>
            <a:r>
              <a:t>Too long to secure on-time delivery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1E2632"/>
                </a:solidFill>
                <a:latin typeface="Arial"/>
              </a:defRPr>
            </a:pPr>
            <a:r>
              <a:t>Reworked parts can reach 31 days lead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12064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5C646E"/>
                </a:solidFill>
                <a:latin typeface="Arial"/>
              </a:rPr>
              <a:t>Plain-English message: “We are losing time before parts can move forward.”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246120"/>
            <a:ext cx="3611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474720"/>
            <a:ext cx="3154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1">
                <a:solidFill>
                  <a:srgbClr val="215B96"/>
                </a:solidFill>
                <a:latin typeface="Arial"/>
              </a:rPr>
              <a:t>2  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749039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A2346"/>
                </a:solidFill>
                <a:latin typeface="Arial"/>
              </a:rPr>
              <a:t>Impact beyond the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114800"/>
            <a:ext cx="31546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1E2632"/>
                </a:solidFill>
                <a:latin typeface="Arial"/>
              </a:defRPr>
            </a:pPr>
            <a:r>
              <a:t>Serviceability of parts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1E2632"/>
                </a:solidFill>
                <a:latin typeface="Arial"/>
              </a:defRPr>
            </a:pPr>
            <a:r>
              <a:t>Respect of commitments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1E2632"/>
                </a:solidFill>
                <a:latin typeface="Arial"/>
              </a:defRPr>
            </a:pPr>
            <a:r>
              <a:t>Customer satisfaction under contract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20">
                <a:solidFill>
                  <a:srgbClr val="1E2632"/>
                </a:solidFill>
                <a:latin typeface="Arial"/>
              </a:defRPr>
            </a:pPr>
            <a:r>
              <a:t>Lower parts holding costs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12064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5C646E"/>
                </a:solidFill>
                <a:latin typeface="Arial"/>
              </a:rPr>
              <a:t>Plain-English message: “Shorter treatment time protects the customer promise.”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246120"/>
            <a:ext cx="3749039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474720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1">
                <a:solidFill>
                  <a:srgbClr val="215B96"/>
                </a:solidFill>
                <a:latin typeface="Arial"/>
              </a:rPr>
              <a:t>3  WHERE WE WILL 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7490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A2346"/>
                </a:solidFill>
                <a:latin typeface="Arial"/>
              </a:rPr>
              <a:t>Focused scope + clear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08736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940">
                <a:solidFill>
                  <a:srgbClr val="1E2632"/>
                </a:solidFill>
                <a:latin typeface="Arial"/>
              </a:defRPr>
            </a:pPr>
            <a:r>
              <a:t>In: turbine nozzles and blades (CFM56 &amp; LEAP)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940">
                <a:solidFill>
                  <a:srgbClr val="1E2632"/>
                </a:solidFill>
                <a:latin typeface="Arial"/>
              </a:defRPr>
            </a:pPr>
            <a:r>
              <a:t>Out: GE engineering analysis / CSC cases (~2%)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626864"/>
            <a:ext cx="3246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215B96"/>
                </a:solidFill>
                <a:latin typeface="Arial"/>
              </a:rPr>
              <a:t>DMAIC roadmap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30767" y="4983480"/>
            <a:ext cx="2980944" cy="27432"/>
          </a:xfrm>
          <a:prstGeom prst="rect">
            <a:avLst/>
          </a:prstGeom>
          <a:solidFill>
            <a:srgbClr val="C8D7EB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66760" y="4882896"/>
            <a:ext cx="201168" cy="201168"/>
          </a:xfrm>
          <a:prstGeom prst="ellipse">
            <a:avLst/>
          </a:prstGeom>
          <a:solidFill>
            <a:srgbClr val="F2B822"/>
          </a:solidFill>
          <a:ln>
            <a:solidFill>
              <a:srgbClr val="F2B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5193792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560" b="0">
                <a:solidFill>
                  <a:srgbClr val="1E2632"/>
                </a:solidFill>
                <a:latin typeface="Arial"/>
              </a:rPr>
              <a:t>Kick-off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5376672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530" b="0">
                <a:solidFill>
                  <a:srgbClr val="1E2632"/>
                </a:solidFill>
                <a:latin typeface="Arial"/>
              </a:rPr>
              <a:t>26 Jun</a:t>
            </a:r>
          </a:p>
        </p:txBody>
      </p:sp>
      <p:sp>
        <p:nvSpPr>
          <p:cNvPr id="34" name="Oval 33"/>
          <p:cNvSpPr/>
          <p:nvPr/>
        </p:nvSpPr>
        <p:spPr>
          <a:xfrm>
            <a:off x="9107424" y="4882896"/>
            <a:ext cx="201168" cy="201168"/>
          </a:xfrm>
          <a:prstGeom prst="ellipse">
            <a:avLst/>
          </a:prstGeom>
          <a:solidFill>
            <a:srgbClr val="F2B822"/>
          </a:solidFill>
          <a:ln>
            <a:solidFill>
              <a:srgbClr val="F2B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5193792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560" b="0">
                <a:solidFill>
                  <a:srgbClr val="1E2632"/>
                </a:solidFill>
                <a:latin typeface="Arial"/>
              </a:rPr>
              <a:t>Define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5376672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530" b="0">
                <a:solidFill>
                  <a:srgbClr val="1E2632"/>
                </a:solidFill>
                <a:latin typeface="Arial"/>
              </a:rPr>
              <a:t>30 Jul</a:t>
            </a:r>
          </a:p>
        </p:txBody>
      </p:sp>
      <p:sp>
        <p:nvSpPr>
          <p:cNvPr id="37" name="Oval 36"/>
          <p:cNvSpPr/>
          <p:nvPr/>
        </p:nvSpPr>
        <p:spPr>
          <a:xfrm>
            <a:off x="9893808" y="4882896"/>
            <a:ext cx="201168" cy="201168"/>
          </a:xfrm>
          <a:prstGeom prst="ellipse">
            <a:avLst/>
          </a:prstGeom>
          <a:solidFill>
            <a:srgbClr val="F2B822"/>
          </a:solidFill>
          <a:ln>
            <a:solidFill>
              <a:srgbClr val="F2B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01784" y="5193792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560" b="0">
                <a:solidFill>
                  <a:srgbClr val="1E2632"/>
                </a:solidFill>
                <a:latin typeface="Arial"/>
              </a:rPr>
              <a:t>Measure/</a:t>
            </a:r>
            <a:br/>
            <a:r>
              <a:rPr sz="560" b="0">
                <a:solidFill>
                  <a:srgbClr val="1E2632"/>
                </a:solidFill>
                <a:latin typeface="Arial"/>
              </a:rPr>
              <a:t>Analyze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01784" y="5376672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530" b="0">
                <a:solidFill>
                  <a:srgbClr val="1E2632"/>
                </a:solidFill>
                <a:latin typeface="Arial"/>
              </a:rPr>
              <a:t>30 Sep</a:t>
            </a:r>
          </a:p>
        </p:txBody>
      </p:sp>
      <p:sp>
        <p:nvSpPr>
          <p:cNvPr id="40" name="Oval 39"/>
          <p:cNvSpPr/>
          <p:nvPr/>
        </p:nvSpPr>
        <p:spPr>
          <a:xfrm>
            <a:off x="10698480" y="4882896"/>
            <a:ext cx="201168" cy="201168"/>
          </a:xfrm>
          <a:prstGeom prst="ellipse">
            <a:avLst/>
          </a:prstGeom>
          <a:solidFill>
            <a:srgbClr val="F2B822"/>
          </a:solidFill>
          <a:ln>
            <a:solidFill>
              <a:srgbClr val="F2B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06455" y="5193792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560" b="0">
                <a:solidFill>
                  <a:srgbClr val="1E2632"/>
                </a:solidFill>
                <a:latin typeface="Arial"/>
              </a:rPr>
              <a:t>Improve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06455" y="5376672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530" b="0">
                <a:solidFill>
                  <a:srgbClr val="1E2632"/>
                </a:solidFill>
                <a:latin typeface="Arial"/>
              </a:rPr>
              <a:t>16 Oct</a:t>
            </a:r>
          </a:p>
        </p:txBody>
      </p:sp>
      <p:sp>
        <p:nvSpPr>
          <p:cNvPr id="43" name="Oval 42"/>
          <p:cNvSpPr/>
          <p:nvPr/>
        </p:nvSpPr>
        <p:spPr>
          <a:xfrm>
            <a:off x="11402568" y="4882896"/>
            <a:ext cx="201168" cy="201168"/>
          </a:xfrm>
          <a:prstGeom prst="ellipse">
            <a:avLst/>
          </a:prstGeom>
          <a:solidFill>
            <a:srgbClr val="228C5D"/>
          </a:solidFill>
          <a:ln>
            <a:solidFill>
              <a:srgbClr val="22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10544" y="5193792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560" b="0">
                <a:solidFill>
                  <a:srgbClr val="1E2632"/>
                </a:solidFill>
                <a:latin typeface="Arial"/>
              </a:rPr>
              <a:t>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10544" y="5376672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530" b="0">
                <a:solidFill>
                  <a:srgbClr val="1E2632"/>
                </a:solidFill>
                <a:latin typeface="Arial"/>
              </a:rPr>
              <a:t>+30/60/90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5815584"/>
            <a:ext cx="11384280" cy="502920"/>
          </a:xfrm>
          <a:prstGeom prst="roundRect">
            <a:avLst/>
          </a:prstGeom>
          <a:solidFill>
            <a:srgbClr val="0A2346"/>
          </a:solidFill>
          <a:ln w="12700">
            <a:solidFill>
              <a:srgbClr val="0A2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5961888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19" b="0">
                <a:solidFill>
                  <a:srgbClr val="FFFFFF"/>
                </a:solidFill>
                <a:latin typeface="Arial"/>
              </a:rPr>
              <a:t>Speaker route: who you are → why this matters → 12-day problem → 2-day ambition → focused scope → roadmap → invite questions on assumptions and risks.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6537960"/>
            <a:ext cx="4572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" b="0">
                <a:solidFill>
                  <a:srgbClr val="5C646E"/>
                </a:solidFill>
                <a:latin typeface="Arial"/>
              </a:rPr>
              <a:t>Draft redesign based on supplied kickoff slide — for trainer 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6537960"/>
            <a:ext cx="2240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20" b="0">
                <a:solidFill>
                  <a:srgbClr val="5C646E"/>
                </a:solidFill>
                <a:latin typeface="Arial"/>
              </a:rPr>
              <a:t>AIRCRAFT ENGINES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